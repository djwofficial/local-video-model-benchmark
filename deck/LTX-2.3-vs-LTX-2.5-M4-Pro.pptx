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English prompts copied from the benchmark scripts that ran (round5/ltx25-mlx-redball and -bluecar; identical for LTX-2.3). The Traditional Chinese lines are translations for reading only; the models were prompted in English.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LTX-2.3 red: 3/3, fresh-run time 126.44 s, avg peak 14.580 GiB (estimate), peak 14.585 GiB, while making 6.295 GiB, warm mean 108.97 s</a:t>
            </a:r>
          </a:p>
          <a:p>
            <a:r>
              <a:t>LTX-2.3 blue: 3/3, fresh-run time 124.06 s, avg peak 14.560 GiB (estimate), peak 14.571 GiB, while making 7.449 GiB, warm mean 109.64 s</a:t>
            </a:r>
          </a:p>
          <a:p>
            <a:r>
              <a:t>LTX-2.5 red: 3/3, fresh-run time 196.66 s, avg peak 15.457 GiB (measured, round5/ltx25-mlx-fresh), peak 15.470 GiB, while making 6.717 GiB, warm mean 175.14 s</a:t>
            </a:r>
          </a:p>
          <a:p>
            <a:r>
              <a:t>LTX-2.5 blue: 3/3, fresh-run time 191.89 s, avg peak 15.466 GiB (measured, round5/ltx25-mlx-fresh), peak 15.482 GiB, while making 7.651 GiB, warm mean 168.30 s</a:t>
            </a:r>
          </a:p>
          <a:p/>
          <a:p>
            <a:r>
              <a:t>LTX-2.3 average peak is an estimate within the 14.56–14.63 GiB measured in 12 earlier fresh runs (its weights were removed, so it was not re-run). LTX-2.3 red-ball avg memory is from its same-settings run on seeds 45–50. TTFT applies to language models only (—). Correct = the object moves the right way. LTX-2.3 red ball ran on AC power, the others on battery (Low Power Mode off).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LTX-2.3: seed 43 One round red ball enters from the left edge and rolls steadily to the right (x 0.00→0.47); slight camera drift. LTX-2.5: seed 43 One round red ball rolls steadily from the left-centre to the right and out past the right edge in the last frames.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LTX-2.3: seed 43 One blue toy car enters from the right edge, drives steadily left and leaves at the left edge; same car shape throughout. LTX-2.5: seed 43 One blue toy car enters at the right edge, drives steadily left and leaves at the left edge; same shape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microsoft.com/office/2007/relationships/media" Target="../media/media2.mp4"/><Relationship Id="rId6" Type="http://schemas.openxmlformats.org/officeDocument/2006/relationships/video" Target="../media/media2.mp4"/><Relationship Id="rId7" Type="http://schemas.openxmlformats.org/officeDocument/2006/relationships/image" Target="../media/image2.png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Relationship Id="rId5" Type="http://schemas.microsoft.com/office/2007/relationships/media" Target="../media/media4.mp4"/><Relationship Id="rId6" Type="http://schemas.openxmlformats.org/officeDocument/2006/relationships/video" Target="../media/media4.mp4"/><Relationship Id="rId7" Type="http://schemas.openxmlformats.org/officeDocument/2006/relationships/image" Target="../media/image4.png"/><Relationship Id="rId8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4552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52B3C"/>
                </a:solidFill>
                <a:latin typeface="Calibri"/>
              </a:rPr>
              <a:t>Test prompts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36A80"/>
                </a:solidFill>
                <a:latin typeface="Calibri"/>
              </a:rPr>
              <a:t>Same two prompts for LTX-2.3 and LTX-2.5  ·  text only (no keyframes)  ·  768×512, 2 s, seeds 42, 43, 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7B87"/>
                </a:solidFill>
                <a:latin typeface="Calibri"/>
              </a:rPr>
              <a:t>Prompt 1 · Red ball (left → right)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47672"/>
            <a:ext cx="1127455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52B3C"/>
                </a:solidFill>
                <a:latin typeface="Calibri"/>
              </a:rPr>
              <a:t>“A single bright red ball rolls from the left side to the right side of a wooden table, moving steadily across the whole table until it reaches the right edge. The ball remains round and keeps the same size and color throughout the shot. A plain beige wall is visible in the background. Soft daylight enters from a window on the left. The camera stays completely still, showing the entire table surface in one continuous shot.”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80360"/>
            <a:ext cx="11274552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36A80"/>
                </a:solidFill>
                <a:latin typeface="Microsoft JhengHei"/>
                <a:ea typeface="Microsoft JhengHei"/>
              </a:rPr>
              <a:t>「一顆鮮紅色的球從木桌的左側滾向右側，平穩地滾過整張桌子，直到抵達右側邊緣。整個鏡頭中，球始終保持圓形，大小和顏色都不變。背景是一面素色的米色牆壁。柔和的日光從左側的窗戶照進來。鏡頭完全固定不動，以一個連續鏡頭拍攝整個桌面。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69080"/>
            <a:ext cx="1127455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7B87"/>
                </a:solidFill>
                <a:latin typeface="Calibri"/>
              </a:rPr>
              <a:t>Prompt 2 · Blue toy car (right → left)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62272"/>
            <a:ext cx="1127455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52B3C"/>
                </a:solidFill>
                <a:latin typeface="Calibri"/>
              </a:rPr>
              <a:t>“A small blue toy car drives from the right side to the left side of a white desk, moving steadily across the whole desk until it reaches the left edge. The car keeps the same shape, size and color throughout the shot. A plain light-grey wall is visible in the background. Soft daylight comes from above. The camera stays completely still, showing the entire desk surface in one continuous shot.”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60"/>
            <a:ext cx="11274552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36A80"/>
                </a:solidFill>
                <a:latin typeface="Microsoft JhengHei"/>
                <a:ea typeface="Microsoft JhengHei"/>
              </a:rPr>
              <a:t>「一輛藍色的小玩具車從白色書桌的右側開往左側，平穩地駛過整張書桌，直到抵達左側邊緣。整個鏡頭中，玩具車的形狀、大小和顏色都保持不變。背景是一面素色的淺灰色牆壁。柔和的日光從上方灑下。鏡頭完全固定不動，以一個連續鏡頭拍攝整個桌面。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36A8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4552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52B3C"/>
                </a:solidFill>
                <a:latin typeface="Calibri"/>
              </a:rPr>
              <a:t>Benchmark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36A80"/>
                </a:solidFill>
                <a:latin typeface="Calibri"/>
              </a:rPr>
              <a:t>LTX-2.3 vs LTX-2.5 distilled  ·  MacBook Pro M4 Pro, 24 GB  ·  768×512, 2 s video, text only, seeds 42, 43, 44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11274552" cy="27432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94560"/>
                <a:gridCol w="1078992"/>
                <a:gridCol w="1600200"/>
                <a:gridCol w="731520"/>
                <a:gridCol w="1097280"/>
                <a:gridCol w="1325880"/>
                <a:gridCol w="1280160"/>
                <a:gridCol w="1051560"/>
                <a:gridCol w="91440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Weights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Mean performance (avg time / video)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TTFT (ms)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Avg memory GiB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Memory while making a video GiB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Avg peak memory GiB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Peak memory GiB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Correct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52B3C"/>
                          </a:solidFill>
                          <a:latin typeface="Calibri"/>
                        </a:rPr>
                        <a:t>LTX-2.3 · red ball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MLX 4-bit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108.97 s/clip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5.89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6.30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007B87"/>
                          </a:solidFill>
                          <a:latin typeface="Calibri"/>
                        </a:rPr>
                        <a:t>14.58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14.59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007B87"/>
                          </a:solidFill>
                          <a:latin typeface="Calibri"/>
                        </a:rPr>
                        <a:t>3 of 3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52B3C"/>
                          </a:solidFill>
                          <a:latin typeface="Calibri"/>
                        </a:rPr>
                        <a:t>LTX-2.3 · blue car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MLX 4-bit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109.64 s/clip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6.86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7.45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007B87"/>
                          </a:solidFill>
                          <a:latin typeface="Calibri"/>
                        </a:rPr>
                        <a:t>14.56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14.57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007B87"/>
                          </a:solidFill>
                          <a:latin typeface="Calibri"/>
                        </a:rPr>
                        <a:t>3 of 3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52B3C"/>
                          </a:solidFill>
                          <a:latin typeface="Calibri"/>
                        </a:rPr>
                        <a:t>LTX-2.5 · red ball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MLX 4-bit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175.14 s/clip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6.34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6.72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007B87"/>
                          </a:solidFill>
                          <a:latin typeface="Calibri"/>
                        </a:rPr>
                        <a:t>15.46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152B3C"/>
                          </a:solidFill>
                          <a:latin typeface="Calibri"/>
                        </a:rPr>
                        <a:t>15.47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007B87"/>
                          </a:solidFill>
                          <a:latin typeface="Calibri"/>
                        </a:rPr>
                        <a:t>3 of 3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52B3C"/>
                          </a:solidFill>
                          <a:latin typeface="Calibri"/>
                        </a:rPr>
                        <a:t>LTX-2.5 · blue car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MLX 4-bit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168.30 s/clip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6.29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7.65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007B87"/>
                          </a:solidFill>
                          <a:latin typeface="Calibri"/>
                        </a:rPr>
                        <a:t>15.47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152B3C"/>
                          </a:solidFill>
                          <a:latin typeface="Calibri"/>
                        </a:rPr>
                        <a:t>15.48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007B87"/>
                          </a:solidFill>
                          <a:latin typeface="Calibri"/>
                        </a:rPr>
                        <a:t>3 of 3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389120"/>
            <a:ext cx="11274552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52B3C"/>
                </a:solidFill>
                <a:latin typeface="Microsoft JhengHei"/>
                <a:ea typeface="Microsoft JhengHei"/>
              </a:rPr>
              <a:t>平均效能（Mean performance）：</a:t>
            </a:r>
            <a:r>
              <a:rPr sz="1400" b="0" i="0">
                <a:solidFill>
                  <a:srgbClr val="152B3C"/>
                </a:solidFill>
                <a:latin typeface="Microsoft JhengHei"/>
                <a:ea typeface="Microsoft JhengHei"/>
              </a:rPr>
              <a:t>模型與提示詞皆已載入時（暖機後執行），seed 42–44 每支影片的平均生成時間。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52B3C"/>
                </a:solidFill>
                <a:latin typeface="Microsoft JhengHei"/>
                <a:ea typeface="Microsoft JhengHei"/>
              </a:rPr>
              <a:t>平均記憶體（Avg memory）：</a:t>
            </a:r>
            <a:r>
              <a:rPr sz="1400" b="0" i="0">
                <a:solidFill>
                  <a:srgbClr val="152B3C"/>
                </a:solidFill>
                <a:latin typeface="Microsoft JhengHei"/>
                <a:ea typeface="Microsoft JhengHei"/>
              </a:rPr>
              <a:t>1 個提示詞，在同一次執行中連續生成多支影片（提示詞只讀取一次）；取每支影片最高記憶體的平均值（seed 42–44）。「Memory while making a video」為其中的最高值。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52B3C"/>
                </a:solidFill>
                <a:latin typeface="Microsoft JhengHei"/>
                <a:ea typeface="Microsoft JhengHei"/>
              </a:rPr>
              <a:t>平均峰值記憶體（Avg peak memory）：</a:t>
            </a:r>
            <a:r>
              <a:rPr sz="1400" b="0" i="0">
                <a:solidFill>
                  <a:srgbClr val="152B3C"/>
                </a:solidFill>
                <a:latin typeface="Microsoft JhengHei"/>
                <a:ea typeface="Microsoft JhengHei"/>
              </a:rPr>
              <a:t>1 個提示詞，每次執行只生成 1 支影片（每次都重新載入模型並讀取提示詞）；取每支影片峰值的平均值（seed 42–44）。「Peak memory」為其中的最高單一數值。24 GB Mac 的 macOS GPU 上限為 17.8 GiB。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36A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4552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52B3C"/>
                </a:solidFill>
                <a:latin typeface="Calibri"/>
              </a:rPr>
              <a:t>Red ball: LTX-2.3 vs LTX-2.5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36A80"/>
                </a:solidFill>
                <a:latin typeface="Calibri"/>
              </a:rPr>
              <a:t>Same prompt, same seed (43)  ·  click a video to play it (2 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486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52B3C"/>
                </a:solidFill>
                <a:latin typeface="Calibri"/>
              </a:rPr>
              <a:t>LTX-2.3 distilled</a:t>
            </a:r>
          </a:p>
        </p:txBody>
      </p:sp>
      <p:pic>
        <p:nvPicPr>
          <p:cNvPr id="5" name="ltx23mlx_r2-seed4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755648"/>
            <a:ext cx="54864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458968"/>
            <a:ext cx="54864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7B87"/>
                </a:solidFill>
                <a:latin typeface="Calibri"/>
              </a:rPr>
              <a:t>Correct</a:t>
            </a:r>
            <a:r>
              <a:rPr sz="1500" b="0" i="0">
                <a:solidFill>
                  <a:srgbClr val="152B3C"/>
                </a:solidFill>
                <a:latin typeface="Calibri"/>
              </a:rPr>
              <a:t>   ·   3 of 3 seeds 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06440"/>
            <a:ext cx="5486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36A80"/>
                </a:solidFill>
                <a:latin typeface="Calibri"/>
              </a:rPr>
              <a:t>avg time 109 s  ·  avg memory 5.89 GiB  ·  avg peak memory 14.58 GiB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5352" y="1325880"/>
            <a:ext cx="5486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52B3C"/>
                </a:solidFill>
                <a:latin typeface="Calibri"/>
              </a:rPr>
              <a:t>LTX-2.5 distilled</a:t>
            </a:r>
          </a:p>
        </p:txBody>
      </p:sp>
      <p:pic>
        <p:nvPicPr>
          <p:cNvPr id="9" name="ltx25_red-seed43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245352" y="1755648"/>
            <a:ext cx="5486400" cy="3657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45352" y="5458968"/>
            <a:ext cx="54864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7B87"/>
                </a:solidFill>
                <a:latin typeface="Calibri"/>
              </a:rPr>
              <a:t>Correct</a:t>
            </a:r>
            <a:r>
              <a:rPr sz="1500" b="0" i="0">
                <a:solidFill>
                  <a:srgbClr val="152B3C"/>
                </a:solidFill>
                <a:latin typeface="Calibri"/>
              </a:rPr>
              <a:t>   ·   3 of 3 seeds correct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5806440"/>
            <a:ext cx="5486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36A80"/>
                </a:solidFill>
                <a:latin typeface="Calibri"/>
              </a:rPr>
              <a:t>avg time 175 s  ·  avg memory 6.34 GiB  ·  avg peak memory 15.46 GiB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36A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4552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52B3C"/>
                </a:solidFill>
                <a:latin typeface="Calibri"/>
              </a:rPr>
              <a:t>Blue car: LTX-2.3 vs LTX-2.5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36A80"/>
                </a:solidFill>
                <a:latin typeface="Calibri"/>
              </a:rPr>
              <a:t>Same prompt, same seed (43)  ·  click a video to play it (2 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486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52B3C"/>
                </a:solidFill>
                <a:latin typeface="Calibri"/>
              </a:rPr>
              <a:t>LTX-2.3 distilled</a:t>
            </a:r>
          </a:p>
        </p:txBody>
      </p:sp>
      <p:pic>
        <p:nvPicPr>
          <p:cNvPr id="5" name="ltx23mlx_blue-seed4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755648"/>
            <a:ext cx="54864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458968"/>
            <a:ext cx="54864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7B87"/>
                </a:solidFill>
                <a:latin typeface="Calibri"/>
              </a:rPr>
              <a:t>Correct</a:t>
            </a:r>
            <a:r>
              <a:rPr sz="1500" b="0" i="0">
                <a:solidFill>
                  <a:srgbClr val="152B3C"/>
                </a:solidFill>
                <a:latin typeface="Calibri"/>
              </a:rPr>
              <a:t>   ·   3 of 3 seeds 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06440"/>
            <a:ext cx="5486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36A80"/>
                </a:solidFill>
                <a:latin typeface="Calibri"/>
              </a:rPr>
              <a:t>avg time 110 s  ·  avg memory 6.86 GiB  ·  avg peak memory 14.56 GiB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5352" y="1325880"/>
            <a:ext cx="5486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52B3C"/>
                </a:solidFill>
                <a:latin typeface="Calibri"/>
              </a:rPr>
              <a:t>LTX-2.5 distilled</a:t>
            </a:r>
          </a:p>
        </p:txBody>
      </p:sp>
      <p:pic>
        <p:nvPicPr>
          <p:cNvPr id="9" name="ltx25_blue-seed43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245352" y="1755648"/>
            <a:ext cx="5486400" cy="3657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45352" y="5458968"/>
            <a:ext cx="54864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7B87"/>
                </a:solidFill>
                <a:latin typeface="Calibri"/>
              </a:rPr>
              <a:t>Correct</a:t>
            </a:r>
            <a:r>
              <a:rPr sz="1500" b="0" i="0">
                <a:solidFill>
                  <a:srgbClr val="152B3C"/>
                </a:solidFill>
                <a:latin typeface="Calibri"/>
              </a:rPr>
              <a:t>   ·   3 of 3 seeds correct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5806440"/>
            <a:ext cx="5486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36A80"/>
                </a:solidFill>
                <a:latin typeface="Calibri"/>
              </a:rPr>
              <a:t>avg time 168 s  ·  avg memory 6.29 GiB  ·  avg peak memory 15.47 GiB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36A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LTX-2.3 vs LTX-2.5 distilled on a 24 GB Mac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