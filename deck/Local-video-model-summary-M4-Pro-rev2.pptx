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 = (129.520 + 131.420 + 135.716) / 3 = 132.2187 s (seeds 42–44, AC power). Peak process phys_footprint 14.632 GiB (first load, with the Gemma text encoder). Correct 9/9 on seeds 42–50. The text-only version of the same model was 3/3 on seeds 42–44 but 8/9 over seeds 42–50. Sources: /Users/dyn/AI/video-model-comparison-2026-10-29/round3/ltx23-mlx-keyframes and /Users/dyn/AI/video-model-comparison-2026-10-29/comparison-results.json.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129.520 s, correct. Reviewed observation: One round red ball rolls steadily from the left (x 0.19) to the right (x 0.91) across the anchored scene; ball present in all 49 frames, never moves backwards.</a:t>
            </a:r>
          </a:p>
          <a:p>
            <a:r>
              <a:t>Seed 43: 131.420 s, correct. Reviewed observation: One round red ball rolls steadily from the left (x 0.19) to the right (x 0.91) across the anchored scene; ball present in all 49 frames, never moves backwards.</a:t>
            </a:r>
          </a:p>
          <a:p>
            <a:r>
              <a:t>Seed 44: 135.716 s, correct. Reviewed observation: One round red ball rolls steadily from the left (x 0.19) to the right (x 0.91) across the anchored scene; ball present in all 49 frames, never moves backwards.</a:t>
            </a:r>
          </a:p>
          <a:p/>
          <a:p>
            <a:r>
              <a:t>Pipeline: DistilledPipeline, 8 steps at 384×256, 2× spatial latent upscale, 3 steps at 768×512, low-RAM streaming, audio off. Anchors: /Users/dyn/AI/video-model-comparison-2026-10-29/round3/ltx23-mlx-keyframes/anchors.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768x512x49: peak 14.576 GiB, while making the 2nd video 5.846 GiB, warm swap Δ -0.80 GiB, cold 142.5 s, warm 130.5 s, correct 2/2.</a:t>
            </a:r>
          </a:p>
          <a:p>
            <a:r>
              <a:t>960x640x49: peak 14.582 GiB, while making the 2nd video 5.572 GiB, warm swap Δ -0.57 GiB, cold 214.9 s, warm 209.6 s, correct 2/2.</a:t>
            </a:r>
          </a:p>
          <a:p>
            <a:r>
              <a:t>1152x768x49: peak 14.573 GiB, while making the 2nd video 5.643 GiB, warm swap Δ -0.55 GiB, cold 314.0 s, warm 302.5 s, correct 2/2.</a:t>
            </a:r>
          </a:p>
          <a:p>
            <a:r>
              <a:t>1344x896x49: peak 14.611 GiB, while making the 2nd video 6.957 GiB, warm swap Δ -0.75 GiB, cold 436.3 s, warm 427.4 s, correct 1/2.</a:t>
            </a:r>
          </a:p>
          <a:p>
            <a:r>
              <a:t>1536x1024x49: peak 14.575 GiB, while making the 2nd video 8.656 GiB, warm swap Δ -0.45 GiB, cold 598.6 s, warm 596.5 s, correct 2/2.</a:t>
            </a:r>
          </a:p>
          <a:p>
            <a:r>
              <a:t>768x512x97: peak 14.592 GiB, while making the 2nd video 9.894 GiB, warm swap Δ -0.27 GiB, cold 244.8 s, warm 237.9 s, correct 0/2.</a:t>
            </a:r>
          </a:p>
          <a:p>
            <a:r>
              <a:t>768x512x121: peak 14.607 GiB, while making the 2nd video 7.984 GiB, warm swap Δ -0.10 GiB, cold 300.1 s, warm 288.1 s, correct 1/2.</a:t>
            </a:r>
          </a:p>
          <a:p>
            <a:r>
              <a:t>768x512x145: peak 14.564 GiB, while making the 2nd video 9.262 GiB, warm swap Δ -0.73 GiB, cold 366.0 s, warm 376.8 s, correct 1/2.</a:t>
            </a:r>
          </a:p>
          <a:p>
            <a:r>
              <a:t>1536x1024x97: peak 14.596 GiB, while making the 2nd video 13.739 GiB, warm swap Δ 1.15 GiB, cold 1228.7 s, warm 1199.5 s, correct 0/2.</a:t>
            </a:r>
          </a:p>
          <a:p/>
          <a:p>
            <a:r>
              <a:t>Sources: /Users/dyn/AI/video-model-comparison-2026-10-29/round4/ltx23-mlx-ladder (ladder-results.json, visual-task-results.json, visual-assessment.md).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LTX-2.3 Red ball: 3/3, mean 108.97 s (seeds 107.7, 108.6, 110.6), peak 14.585 GiB, while making 6.295 GiB, AC.</a:t>
            </a:r>
          </a:p>
          <a:p>
            <a:r>
              <a:t>LTX-2.3 Blue car: 3/3, mean 109.64 s (seeds 109.7, 112.0, 107.2), peak 14.571 GiB, while making 7.449 GiB, battery.</a:t>
            </a:r>
          </a:p>
          <a:p>
            <a:r>
              <a:t>LTX-2.5 Red ball: 3/3, mean 175.14 s (seeds 185.9, 171.9, 167.6), peak 15.451 GiB, while making 6.717 GiB, battery.</a:t>
            </a:r>
          </a:p>
          <a:p>
            <a:r>
              <a:t>LTX-2.5 Blue car: 3/3, mean 168.30 s (seeds 166.9, 166.5, 171.4), peak 15.455 GiB, while making 7.651 GiB, battery.</a:t>
            </a:r>
          </a:p>
          <a:p/>
          <a:p>
            <a:r>
              <a:t>Sources: /Users/dyn/AI/video-model-comparison-2026-10-29/round2/ltx23-mlx, /Users/dyn/AI/video-model-comparison-2026-10-29/round5/ltx23-mlx-bluecar, /Users/dyn/AI/video-model-comparison-2026-10-29/round5/ltx25-mlx-redball, /Users/dyn/AI/video-model-comparison-2026-10-29/round5/ltx25-mlx-bluecar. LTX-2.5 weights: dgrauet/ltx-2.5-mlx-q4 (int4), ltx-pipelines-mlx 0.18.0.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ball seed 42: 185.9 s, correct</a:t>
            </a:r>
          </a:p>
          <a:p>
            <a:r>
              <a:t>Red ball seed 43: 171.9 s, correct</a:t>
            </a:r>
          </a:p>
          <a:p>
            <a:r>
              <a:t>Red ball seed 44: 167.6 s, correct</a:t>
            </a:r>
          </a:p>
          <a:p>
            <a:r>
              <a:t>Blue car seed 42: 166.9 s, correct</a:t>
            </a:r>
          </a:p>
          <a:p>
            <a:r>
              <a:t>Blue car seed 43: 166.5 s, correct</a:t>
            </a:r>
          </a:p>
          <a:p>
            <a:r>
              <a:t>Blue car seed 44: 171.4 s, 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6.png"/><Relationship Id="rId5" Type="http://schemas.microsoft.com/office/2007/relationships/media" Target="../media/media5.mp4"/><Relationship Id="rId6" Type="http://schemas.openxmlformats.org/officeDocument/2006/relationships/video" Target="../media/media5.mp4"/><Relationship Id="rId7" Type="http://schemas.openxmlformats.org/officeDocument/2006/relationships/image" Target="../media/image7.png"/><Relationship Id="rId8" Type="http://schemas.microsoft.com/office/2007/relationships/media" Target="../media/media6.mp4"/><Relationship Id="rId9" Type="http://schemas.openxmlformats.org/officeDocument/2006/relationships/video" Target="../media/media6.mp4"/><Relationship Id="rId10" Type="http://schemas.openxmlformats.org/officeDocument/2006/relationships/image" Target="../media/image8.png"/><Relationship Id="rId11" Type="http://schemas.microsoft.com/office/2007/relationships/media" Target="../media/media7.mp4"/><Relationship Id="rId12" Type="http://schemas.openxmlformats.org/officeDocument/2006/relationships/video" Target="../media/media7.mp4"/><Relationship Id="rId13" Type="http://schemas.openxmlformats.org/officeDocument/2006/relationships/image" Target="../media/image9.png"/><Relationship Id="rId14" Type="http://schemas.microsoft.com/office/2007/relationships/media" Target="../media/media8.mp4"/><Relationship Id="rId15" Type="http://schemas.openxmlformats.org/officeDocument/2006/relationships/video" Target="../media/media8.mp4"/><Relationship Id="rId16" Type="http://schemas.openxmlformats.org/officeDocument/2006/relationships/image" Target="../media/image10.png"/><Relationship Id="rId17" Type="http://schemas.microsoft.com/office/2007/relationships/media" Target="../media/media9.mp4"/><Relationship Id="rId18" Type="http://schemas.openxmlformats.org/officeDocument/2006/relationships/video" Target="../media/media9.mp4"/><Relationship Id="rId19" Type="http://schemas.openxmlformats.org/officeDocument/2006/relationships/image" Target="../media/image11.png"/><Relationship Id="rId2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One setup made every video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Red-ball prompt  ·  tested on a MacBook Pro M4 Pro, 24 GB  ·  target: Mac mini M5 Pro, 24 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1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1143000"/>
                <a:gridCol w="1554480"/>
                <a:gridCol w="1874519"/>
                <a:gridCol w="1051560"/>
                <a:gridCol w="1188720"/>
                <a:gridCol w="15361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Weights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Mean performance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TTFT (ms)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Memory GiB¹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Correct videos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LTX-2.3 distilled + keyframes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MLX 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768×512, 2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132.22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9 of 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2880360"/>
            <a:ext cx="3557016" cy="155448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90088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07B87"/>
                </a:solidFill>
                <a:latin typeface="Calibri"/>
              </a:rPr>
              <a:t>9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309981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videos correct: every seed tested (42–50)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880360"/>
            <a:ext cx="3557016" cy="155448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990088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2B3C"/>
                </a:solidFill>
                <a:latin typeface="Calibri"/>
              </a:rPr>
              <a:t>14.6 GiB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703320"/>
            <a:ext cx="309981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peak memory; fits a 24 GB Mac (macOS GPU limit 17.8 GiB)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2880360"/>
            <a:ext cx="3557016" cy="155448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2990088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2B3C"/>
                </a:solidFill>
                <a:latin typeface="Calibri"/>
              </a:rPr>
              <a:t>132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3703320"/>
            <a:ext cx="309981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to make one 2-second video on this M4 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7455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B3C"/>
                </a:solidFill>
                <a:latin typeface="Calibri"/>
              </a:rPr>
              <a:t>Out of </a:t>
            </a:r>
            <a:r>
              <a:rPr sz="1600" b="1" i="0">
                <a:solidFill>
                  <a:srgbClr val="152B3C"/>
                </a:solidFill>
                <a:latin typeface="Calibri"/>
              </a:rPr>
              <a:t>8 red-ball setups tested across 5 models</a:t>
            </a:r>
            <a:r>
              <a:rPr sz="1600" b="0" i="0">
                <a:solidFill>
                  <a:srgbClr val="152B3C"/>
                </a:solidFill>
                <a:latin typeface="Calibri"/>
              </a:rPr>
              <a:t>, this is the only one correct on all 9 seeds tested. LTX-2.5 results are on slide 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74552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¹ Memory = peak process memory (Activity Monitor’s figure, GPU buffers included). TTFT (time to first token) applies to language models, not video, so it is “—”.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Seed = the random start number: the same prompt with a different seed gives a different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LTX-2.3 distilled (MLX 4-bit) + keyframes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Click a video to play it  ·  768×512, 49 frames (2 s), 25 FPS  ·  seeds 42–44 shown; seeds 45–50 were also correct</a:t>
            </a:r>
          </a:p>
        </p:txBody>
      </p:sp>
      <p:pic>
        <p:nvPicPr>
          <p:cNvPr id="4" name="ltx23mlx_kf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3557016" cy="2371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42943"/>
            <a:ext cx="3557016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Calibri"/>
              </a:rPr>
              <a:t>Seed 42</a:t>
            </a:r>
            <a:r>
              <a:rPr sz="1400" b="1" i="0">
                <a:solidFill>
                  <a:srgbClr val="007B87"/>
                </a:solidFill>
                <a:latin typeface="Calibri"/>
              </a:rPr>
              <a:t>   Correct</a:t>
            </a:r>
            <a:r>
              <a:rPr sz="1400" b="0" i="0">
                <a:solidFill>
                  <a:srgbClr val="536A80"/>
                </a:solidFill>
                <a:latin typeface="Calibri"/>
              </a:rPr>
              <a:t>   ·   130 s to make</a:t>
            </a:r>
          </a:p>
        </p:txBody>
      </p:sp>
      <p:pic>
        <p:nvPicPr>
          <p:cNvPr id="6" name="ltx23mlx_kf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15968" y="1325880"/>
            <a:ext cx="3557016" cy="2371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3742943"/>
            <a:ext cx="3557016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Calibri"/>
              </a:rPr>
              <a:t>Seed 43</a:t>
            </a:r>
            <a:r>
              <a:rPr sz="1400" b="1" i="0">
                <a:solidFill>
                  <a:srgbClr val="007B87"/>
                </a:solidFill>
                <a:latin typeface="Calibri"/>
              </a:rPr>
              <a:t>   Correct</a:t>
            </a:r>
            <a:r>
              <a:rPr sz="1400" b="0" i="0">
                <a:solidFill>
                  <a:srgbClr val="536A80"/>
                </a:solidFill>
                <a:latin typeface="Calibri"/>
              </a:rPr>
              <a:t>   ·   131 s to make</a:t>
            </a:r>
          </a:p>
        </p:txBody>
      </p:sp>
      <p:pic>
        <p:nvPicPr>
          <p:cNvPr id="8" name="ltx23mlx_kf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74736" y="1325880"/>
            <a:ext cx="3557016" cy="2371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4736" y="3742943"/>
            <a:ext cx="3557016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Calibri"/>
              </a:rPr>
              <a:t>Seed 44</a:t>
            </a:r>
            <a:r>
              <a:rPr sz="1400" b="1" i="0">
                <a:solidFill>
                  <a:srgbClr val="007B87"/>
                </a:solidFill>
                <a:latin typeface="Calibri"/>
              </a:rPr>
              <a:t>   Correct</a:t>
            </a:r>
            <a:r>
              <a:rPr sz="1400" b="0" i="0">
                <a:solidFill>
                  <a:srgbClr val="536A80"/>
                </a:solidFill>
                <a:latin typeface="Calibri"/>
              </a:rPr>
              <a:t>   ·   136 s to make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What the name means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53128"/>
            <a:ext cx="3557016" cy="164592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44568"/>
            <a:ext cx="3191256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LTX-2.3 distilled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Lightricks’ open video model. “Distilled” means it was trained to need few steps: 8 at half size, then a 2× upscale and 3 more.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453128"/>
            <a:ext cx="3557016" cy="164592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544568"/>
            <a:ext cx="3191256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MLX 4-bit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Runs on Apple’s MLX framework. The weights are stored in 4 bits, so the model and its text encoder fit a 24 GB Mac (peak 14.6 GiB).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4453128"/>
            <a:ext cx="3557016" cy="164592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4544568"/>
            <a:ext cx="319125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+ keyframes</a:t>
            </a:r>
          </a:p>
        </p:txBody>
      </p:sp>
      <p:pic>
        <p:nvPicPr>
          <p:cNvPr id="17" name="Picture 16" descr="start-ball-lef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615" y="4937760"/>
            <a:ext cx="109728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66175" y="5687568"/>
            <a:ext cx="1280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frame 1: fixed</a:t>
            </a:r>
          </a:p>
        </p:txBody>
      </p:sp>
      <p:pic>
        <p:nvPicPr>
          <p:cNvPr id="19" name="Picture 18" descr="end-ball-righ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1592" y="4937760"/>
            <a:ext cx="109728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60152" y="5687568"/>
            <a:ext cx="1280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frame 49: guided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5" y="4937760"/>
            <a:ext cx="996696" cy="73151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52B3C"/>
                </a:solidFill>
                <a:latin typeface="Calibri"/>
              </a:rPr>
              <a:t>→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the model makes the 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Keyframe stills = frames 16 and 49 of one of the model’s own correct videos (seed 47, made without keyframes), so every video shows the same table and start and end positions.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How big can it go on 24 GB?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LTX-2.3 + keyframes at larger sizes and longer clips  ·  2 seeds per size (42, 43)  ·  AC power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011680"/>
                <a:gridCol w="1920240"/>
                <a:gridCol w="2514600"/>
                <a:gridCol w="1463040"/>
                <a:gridCol w="126187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Frames (length)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Peak memory GiB¹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Memory while making a video (GiB)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Time per video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131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960×640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210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1152×768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302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1344×896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427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1536×1024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8.7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597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97  (3.9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238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0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121  (4.8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288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145  (5.8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377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1536×1024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97  (3.9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1,199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0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Calibri"/>
              </a:rPr>
              <a:t>Every size fits: 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peak 14.6 GiB, under the 17.8 GiB macOS GPU limit.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B87"/>
                </a:solidFill>
                <a:latin typeface="Calibri"/>
              </a:rPr>
              <a:t>2-second clips work up to 1536×1024 (9 of 10 correct)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; longer clips fail (2 of 8 correct).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¹ Highest process memory, GPU buffers included. It comes from loading the text encoder at start-up, so it is the same for every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Upgrade test: LTX-2.5 distilled vs LTX-2.3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Text only (no keyframes)  ·  768×512, 2 s  ·  2 prompts × 3 seeds (42, 43, 44)  ·  MacBook Pro M4 Pro, 24 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2377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1554480"/>
                <a:gridCol w="1371600"/>
                <a:gridCol w="1645920"/>
                <a:gridCol w="1600200"/>
                <a:gridCol w="1719072"/>
                <a:gridCol w="1188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Time / video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Peak memory GiB¹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Memory making a video GiB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LTX-2.3 distilled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Red ball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109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AC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LTX-2.3 distilled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Blue car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110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battery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LTX-2.5 distilled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Red ball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175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battery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LTX-2.5 distilled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Blue car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3 of 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168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battery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69080"/>
            <a:ext cx="3557016" cy="141732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07B87"/>
                </a:solidFill>
                <a:latin typeface="Calibri"/>
              </a:rPr>
              <a:t>6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309981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LTX-2.5 videos correct (LTX-2.3: 6 of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4069080"/>
            <a:ext cx="3557016" cy="141732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4160520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2B3C"/>
                </a:solidFill>
                <a:latin typeface="Calibri"/>
              </a:rPr>
              <a:t>15.5 GiB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4846320"/>
            <a:ext cx="309981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LTX-2.5 peak memory, under the 17.8 GiB limit (LTX-2.3: 14.6)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4069080"/>
            <a:ext cx="3557016" cy="141732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4160520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2B3C"/>
                </a:solidFill>
                <a:latin typeface="Calibri"/>
              </a:rPr>
              <a:t>1.6×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4846320"/>
            <a:ext cx="309981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slower: about 172 s per video vs 109 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¹ Highest process memory incl. GPU buffers, set by loading the text encoder at start-up (LTX-2.5: Gemma-4, 9.8 GiB file). LTX-2.3 red-ball memory is from its same-settings run on seeds 45–50.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Both models were correct on every seed here, so 3 seeds per prompt cannot show which follows prompts better; LTX-2.5 ranks higher in public tests (Artificial Analysis Elo 947 vs 838).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LTX-2.5 distilled: the 6 test videos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Click a video to play it  ·  text only, 768×512, 49 frames (2 s), 25 FPS  ·  all 6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" cy="201167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Red ball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A80"/>
                </a:solidFill>
                <a:latin typeface="Calibri"/>
              </a:rPr>
              <a:t>left → right</a:t>
            </a:r>
          </a:p>
        </p:txBody>
      </p:sp>
      <p:pic>
        <p:nvPicPr>
          <p:cNvPr id="5" name="ltx25_red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20240" y="1371600"/>
            <a:ext cx="3017520" cy="20116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41985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Calibri"/>
              </a:rPr>
              <a:t>Seed 42  </a:t>
            </a:r>
            <a:r>
              <a:rPr sz="12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200" b="0" i="0">
                <a:solidFill>
                  <a:srgbClr val="536A80"/>
                </a:solidFill>
                <a:latin typeface="Calibri"/>
              </a:rPr>
              <a:t>  ·  small ball rolls left → right</a:t>
            </a:r>
          </a:p>
        </p:txBody>
      </p:sp>
      <p:pic>
        <p:nvPicPr>
          <p:cNvPr id="7" name="ltx25_red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239512" y="1371600"/>
            <a:ext cx="3017520" cy="2011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9512" y="341985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Calibri"/>
              </a:rPr>
              <a:t>Seed 43  </a:t>
            </a:r>
            <a:r>
              <a:rPr sz="12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200" b="0" i="0">
                <a:solidFill>
                  <a:srgbClr val="536A80"/>
                </a:solidFill>
                <a:latin typeface="Calibri"/>
              </a:rPr>
              <a:t>  ·  rolls left → right, exits</a:t>
            </a:r>
          </a:p>
        </p:txBody>
      </p:sp>
      <p:pic>
        <p:nvPicPr>
          <p:cNvPr id="9" name="ltx25_red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558784" y="1371600"/>
            <a:ext cx="3017520" cy="2011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8784" y="341985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Calibri"/>
              </a:rPr>
              <a:t>Seed 44  </a:t>
            </a:r>
            <a:r>
              <a:rPr sz="12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200" b="0" i="0">
                <a:solidFill>
                  <a:srgbClr val="536A80"/>
                </a:solidFill>
                <a:latin typeface="Calibri"/>
              </a:rPr>
              <a:t>  ·  rolls right; camera follows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79"/>
            <a:ext cx="1371600" cy="201167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Blue car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A80"/>
                </a:solidFill>
                <a:latin typeface="Calibri"/>
              </a:rPr>
              <a:t>right → left</a:t>
            </a:r>
          </a:p>
        </p:txBody>
      </p:sp>
      <p:pic>
        <p:nvPicPr>
          <p:cNvPr id="12" name="ltx25_blue-seed42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920240" y="4069079"/>
            <a:ext cx="3017520" cy="20116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20240" y="6117335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Calibri"/>
              </a:rPr>
              <a:t>Seed 42  </a:t>
            </a:r>
            <a:r>
              <a:rPr sz="12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200" b="0" i="0">
                <a:solidFill>
                  <a:srgbClr val="536A80"/>
                </a:solidFill>
                <a:latin typeface="Calibri"/>
              </a:rPr>
              <a:t>  ·  drives right → left across</a:t>
            </a:r>
          </a:p>
        </p:txBody>
      </p:sp>
      <p:pic>
        <p:nvPicPr>
          <p:cNvPr id="14" name="ltx25_blue-seed43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5239512" y="4069079"/>
            <a:ext cx="3017520" cy="20116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9512" y="6117335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Calibri"/>
              </a:rPr>
              <a:t>Seed 43  </a:t>
            </a:r>
            <a:r>
              <a:rPr sz="12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200" b="0" i="0">
                <a:solidFill>
                  <a:srgbClr val="536A80"/>
                </a:solidFill>
                <a:latin typeface="Calibri"/>
              </a:rPr>
              <a:t>  ·  drives right → left across</a:t>
            </a:r>
          </a:p>
        </p:txBody>
      </p:sp>
      <p:pic>
        <p:nvPicPr>
          <p:cNvPr id="16" name="ltx25_blue-seed44.mp4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8558784" y="4069079"/>
            <a:ext cx="3017520" cy="20116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58784" y="6117335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B3C"/>
                </a:solidFill>
                <a:latin typeface="Calibri"/>
              </a:rPr>
              <a:t>Seed 44  </a:t>
            </a:r>
            <a:r>
              <a:rPr sz="1200" b="1" i="0">
                <a:solidFill>
                  <a:srgbClr val="007B87"/>
                </a:solidFill>
                <a:latin typeface="Calibri"/>
              </a:rPr>
              <a:t>Correct</a:t>
            </a:r>
            <a:r>
              <a:rPr sz="1200" b="0" i="0">
                <a:solidFill>
                  <a:srgbClr val="536A80"/>
                </a:solidFill>
                <a:latin typeface="Calibri"/>
              </a:rPr>
              <a:t>  ·  drives right → left across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LTX-2.3 + keyframes: the local video setup that was correct on every seed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