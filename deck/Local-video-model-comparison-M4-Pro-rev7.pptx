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LTX-2.3 distilled MLX (keyframes) (768×512 · new prompt · keyframes · AC): mean = (129.520 + 131.420 + 135.716) / 3 = 132.2187 s; memory 9.190 GiB; correct videos 9/3.</a:t>
            </a:r>
          </a:p>
          <a:p/>
          <a:p>
            <a:r>
              <a:t>LTX-2.3 distilled MLX (round 2) (768×512 · new prompt · AC): mean = (107.684 + 108.645 + 110.587) / 3 = 108.9720 s; memory 9.188 GiB; correct videos 3/3.</a:t>
            </a:r>
          </a:p>
          <a:p/>
          <a:p>
            <a:r>
              <a:t>LTX-2.3 distilled MLX (512×320 · original prompt · AC): mean = (52.358 + 52.618 + 53.046) / 3 = 52.6740 s; memory 7.676 GiB; correct videos 1/3.</a:t>
            </a:r>
          </a:p>
          <a:p/>
          <a:p>
            <a:r>
              <a:t>Wan 2.2 TI2V 5B (512×320 · original prompt · AC): mean = (273.162 + 273.085 + 275.929) / 3 = 274.0587 s; memory 14.935 GiB; correct videos 1/3.</a:t>
            </a:r>
          </a:p>
          <a:p/>
          <a:p>
            <a:r>
              <a:t>LTX-Video 2B v0.9.5 (512×320 · original prompt · battery): mean = (73.578 + 79.840 + 83.088) / 3 = 78.8353 s; memory 8.153 GiB; correct videos 1/3.</a:t>
            </a:r>
          </a:p>
          <a:p/>
          <a:p>
            <a:r>
              <a:t>LTX-Video 2B v0.9.5 (round 2) (768×512 · new prompt · AC): mean = (144.823 + 142.549 + 141.347) / 3 = 142.9063 s; memory 15.115 GiB; correct videos 0/3.</a:t>
            </a:r>
          </a:p>
          <a:p/>
          <a:p>
            <a:r>
              <a:t>LTX-Video 2B distilled v0.9.6 (512×320 · original prompt · battery): mean = (18.080 + 16.375 + 15.193) / 3 = 16.5493 s; memory 8.153 GiB; correct videos 0/3.</a:t>
            </a:r>
          </a:p>
          <a:p/>
          <a:p>
            <a:r>
              <a:t>Wan 2.1 T2V 1.3B (512×320 · original prompt · battery): mean = (852.447 + 770.932 + 853.808) / 3 = 825.7290 s; memory 11.163 GiB; correct videos 0/3.</a:t>
            </a:r>
          </a:p>
          <a:p/>
          <a:p>
            <a:r>
              <a:t>Extra seeds 45–50 (round-2 settings): 5/6 correct, mean 112.57 s, peak MLX 14.22 GiB, peak process phys_footprint 14.59 GiB.</a:t>
            </a:r>
          </a:p>
          <a:p/>
          <a:p>
            <a:r>
              <a:t>Sources: comparison-results.json, RESULTS.md and each folder’s results.jsonl and visual-task-results.json under /Users/dyn/AI/video-model-comparison-2026-10-29.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42: 129.520 s, pass. Reviewed observation: One round red ball rolls steadily from the left (x 0.19) to the right (x 0.91) across the anchored scene; ball present in all 49 frames, never moves backwards.</a:t>
            </a:r>
          </a:p>
          <a:p>
            <a:r>
              <a:t>Seed 43: 131.420 s, pass. Reviewed observation: One round red ball rolls steadily from the left (x 0.19) to the right (x 0.91) across the anchored scene; ball present in all 49 frames, never moves backwards.</a:t>
            </a:r>
          </a:p>
          <a:p>
            <a:r>
              <a:t>Seed 44: 135.716 s, pass. Reviewed observation: One round red ball rolls steadily from the left (x 0.19) to the right (x 0.91) across the anchored scene; ball present in all 49 frames, never moves backwards.</a:t>
            </a:r>
          </a:p>
          <a:p/>
          <a:p>
            <a:r>
              <a:t>Videos: assets/videos/*.mp4 (H.264 copies of the original outputs, made by make_videos.py). Source folder: /Users/dyn/AI/video-model-comparison-2026-10-29/round3/ltx23-mlx-keyframes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42: 107.684 s, pass. Reviewed observation: One round red ball rolls from the far left of the table to the right and towards the camera (red-blob x 0.08→0.42); the only other red-ish region is the static door frame.</a:t>
            </a:r>
          </a:p>
          <a:p>
            <a:r>
              <a:t>Seed 43: 108.645 s, pass. Reviewed observation: One round red ball enters from the left edge and rolls steadily to the right (x 0.00→0.47); slight camera drift.</a:t>
            </a:r>
          </a:p>
          <a:p>
            <a:r>
              <a:t>Seed 44: 110.587 s, pass. Reviewed observation: One round red ball enters from the left and rolls right across the table until it leaves the frame at the right edge (x 0.02→0.97).</a:t>
            </a:r>
          </a:p>
          <a:p/>
          <a:p>
            <a:r>
              <a:t>Videos: assets/videos/*.mp4 (H.264 copies of the original outputs, made by make_videos.py). Source folder: /Users/dyn/AI/video-model-comparison-2026-10-29/round2/ltx23-mlx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Direction-following rates: CAPE-T2V (https://arxiv.org/pdf/2608.03046) and T2V-CompBench (https://arxiv.org/html/2407.14505v2). Recipe and script: /Users/dyn/AI/video-model-comparison-2026-10-29/mac-mini-recipe.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768x512x49: peak 14.576 GiB, 2nd video 5.846 GiB, MLX peak 14.215 GiB, warm swap Δ -0.80 GiB, cold 142.5 s, warm 130.5 s, correct 2/2.</a:t>
            </a:r>
          </a:p>
          <a:p>
            <a:r>
              <a:t>960x640x49: peak 14.582 GiB, 2nd video 5.572 GiB, MLX peak 14.215 GiB, warm swap Δ -0.57 GiB, cold 214.9 s, warm 209.6 s, correct 2/2.</a:t>
            </a:r>
          </a:p>
          <a:p>
            <a:r>
              <a:t>1152x768x49: peak 14.573 GiB, 2nd video 5.643 GiB, MLX peak 14.215 GiB, warm swap Δ -0.55 GiB, cold 314.0 s, warm 302.5 s, correct 2/2.</a:t>
            </a:r>
          </a:p>
          <a:p>
            <a:r>
              <a:t>1344x896x49: peak 14.611 GiB, 2nd video 6.957 GiB, MLX peak 14.215 GiB, warm swap Δ -0.75 GiB, cold 436.3 s, warm 427.4 s, correct 1/2.</a:t>
            </a:r>
          </a:p>
          <a:p>
            <a:r>
              <a:t>1536x1024x49: peak 14.575 GiB, 2nd video 8.656 GiB, MLX peak 14.215 GiB, warm swap Δ -0.45 GiB, cold 598.6 s, warm 596.5 s, correct 2/2.</a:t>
            </a:r>
          </a:p>
          <a:p>
            <a:r>
              <a:t>768x512x97: peak 14.592 GiB, 2nd video 9.894 GiB, MLX peak 14.254 GiB, warm swap Δ -0.27 GiB, cold 244.8 s, warm 237.9 s, correct 0/2.</a:t>
            </a:r>
          </a:p>
          <a:p>
            <a:r>
              <a:t>768x512x121: peak 14.607 GiB, 2nd video 7.984 GiB, MLX peak 14.215 GiB, warm swap Δ -0.10 GiB, cold 300.1 s, warm 288.1 s, correct 1/2.</a:t>
            </a:r>
          </a:p>
          <a:p>
            <a:r>
              <a:t>768x512x145: peak 14.564 GiB, 2nd video 9.262 GiB, MLX peak 14.215 GiB, warm swap Δ -0.73 GiB, cold 366.0 s, warm 376.8 s, correct 1/2.</a:t>
            </a:r>
          </a:p>
          <a:p>
            <a:r>
              <a:t>1536x1024x97: peak 14.596 GiB, 2nd video 13.739 GiB, MLX peak 14.215 GiB, warm swap Δ 1.15 GiB, cold 1228.7 s, warm 1199.5 s, correct 0/2.</a:t>
            </a:r>
          </a:p>
          <a:p/>
          <a:p>
            <a:r>
              <a:t>Sources: /Users/dyn/AI/video-model-comparison-2026-10-29/round4/ltx23-mlx-ladder (ladder-results.json, visual-task-results.json, visual-assessment.md, ball-check.json).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42: 52.358 s, fail. Reviewed observation: One ball enters from the right and rolls to the left until it leaves the frame (red-blob x 0.99→0.01).</a:t>
            </a:r>
          </a:p>
          <a:p>
            <a:r>
              <a:t>Seed 43: 52.618 s, fail. Reviewed observation: One ball at the left of the table stays nearly still.</a:t>
            </a:r>
          </a:p>
          <a:p>
            <a:r>
              <a:t>Seed 44: 53.046 s, pass. Reviewed observation: One round red ball enters from the left edge and rolls steadily to the right (red-blob x 0.01→0.67).</a:t>
            </a:r>
          </a:p>
          <a:p/>
          <a:p>
            <a:r>
              <a:t>Videos: assets/videos/*.mp4 (H.264 copies of the original outputs, made by make_videos.py). Source folder: /Users/dyn/AI/video-model-comparison-2026-10-29/ltx23-mlx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42: 273.162 s, pass. Reviewed observation: One red ball drops onto the table edge at the left, then moves clearly to the right along it and stays broadly round (slight wobble late in the clip).</a:t>
            </a:r>
          </a:p>
          <a:p>
            <a:r>
              <a:t>Seed 43: 273.085 s, fail. Reviewed observation: Blurred, overexposed scene that drifts; a red blob appears and vanishes.</a:t>
            </a:r>
          </a:p>
          <a:p>
            <a:r>
              <a:t>Seed 44: 275.929 s, fail. Reviewed observation: A large translucent pink dome melts into a red smear; heavy artifacts.</a:t>
            </a:r>
          </a:p>
          <a:p/>
          <a:p>
            <a:r>
              <a:t>Videos: assets/videos/*.mp4 (H.264 copies of the original outputs, made by make_videos.py). Source folder: /Users/dyn/AI/video-model-comparison-2026-10-29/wan22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42: 73.578 s, fail. Reviewed observation: Nearly static.</a:t>
            </a:r>
          </a:p>
          <a:p>
            <a:r>
              <a:t>Seed 43: 79.840 s, pass. Reviewed observation: Clear left-to-right displacement of one round red ball.</a:t>
            </a:r>
          </a:p>
          <a:p>
            <a:r>
              <a:t>Seed 44: 83.088 s, fail. Reviewed observation: Nearly static.</a:t>
            </a:r>
          </a:p>
          <a:p/>
          <a:p>
            <a:r>
              <a:t>Videos: assets/videos/*.mp4 (H.264 copies of the original outputs, made by make_videos.py). Source folder: /Users/dyn/AI/ltx-benchmark-2026-10-29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42: 144.823 s, fail. Reviewed observation: One ball near the right edge shifts slightly, then disappears before the end.</a:t>
            </a:r>
          </a:p>
          <a:p>
            <a:r>
              <a:t>Seed 43: 142.549 s, fail. Reviewed observation: No ball appears; empty table.</a:t>
            </a:r>
          </a:p>
          <a:p>
            <a:r>
              <a:t>Seed 44: 141.347 s, fail. Reviewed observation: One ball in the centre stays still.</a:t>
            </a:r>
          </a:p>
          <a:p/>
          <a:p>
            <a:r>
              <a:t>Videos: assets/videos/*.mp4 (H.264 copies of the original outputs, made by make_videos.py). Source folder: /Users/dyn/AI/video-model-comparison-2026-10-29/round2/ltx095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42: 18.080 s, fail. Reviewed observation: A second red ball appears and moves right; original remains almost static.</a:t>
            </a:r>
          </a:p>
          <a:p>
            <a:r>
              <a:t>Seed 43: 16.375 s, fail. Reviewed observation: Nearly static.</a:t>
            </a:r>
          </a:p>
          <a:p>
            <a:r>
              <a:t>Seed 44: 15.193 s, fail. Reviewed observation: Nearly static.</a:t>
            </a:r>
          </a:p>
          <a:p/>
          <a:p>
            <a:r>
              <a:t>Videos: assets/videos/*.mp4 (H.264 copies of the original outputs, made by make_videos.py). Source folder: /Users/dyn/AI/video-model-comparison-2026-10-29/ltx-distilled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42: 852.447 s, fail. Reviewed observation: One red ball drops down and to the left off a striped box; no left-to-right roll, table barely visible.</a:t>
            </a:r>
          </a:p>
          <a:p>
            <a:r>
              <a:t>Seed 43: 770.932 s, fail. Reviewed observation: Dozens of small red beads form a block and floating rows; not a single ball.</a:t>
            </a:r>
          </a:p>
          <a:p>
            <a:r>
              <a:t>Seed 44: 853.808 s, fail. Reviewed observation: Cartoon-style room; a red mesh shape morphs and a ball appears floating only at the end.</a:t>
            </a:r>
          </a:p>
          <a:p/>
          <a:p>
            <a:r>
              <a:t>Videos: assets/videos/*.mp4 (H.264 copies of the original outputs, made by make_videos.py). Source folder: /Users/dyn/AI/video-model-comparison-2026-10-29/wan21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2.png"/><Relationship Id="rId8" Type="http://schemas.microsoft.com/office/2007/relationships/media" Target="../media/media3.mp4"/><Relationship Id="rId9" Type="http://schemas.openxmlformats.org/officeDocument/2006/relationships/video" Target="../media/media3.mp4"/><Relationship Id="rId10" Type="http://schemas.openxmlformats.org/officeDocument/2006/relationships/image" Target="../media/image3.png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microsoft.com/office/2007/relationships/media" Target="../media/media5.mp4"/><Relationship Id="rId6" Type="http://schemas.openxmlformats.org/officeDocument/2006/relationships/video" Target="../media/media5.mp4"/><Relationship Id="rId7" Type="http://schemas.openxmlformats.org/officeDocument/2006/relationships/image" Target="../media/image5.png"/><Relationship Id="rId8" Type="http://schemas.microsoft.com/office/2007/relationships/media" Target="../media/media6.mp4"/><Relationship Id="rId9" Type="http://schemas.openxmlformats.org/officeDocument/2006/relationships/video" Target="../media/media6.mp4"/><Relationship Id="rId10" Type="http://schemas.openxmlformats.org/officeDocument/2006/relationships/image" Target="../media/image6.png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9.png"/><Relationship Id="rId5" Type="http://schemas.microsoft.com/office/2007/relationships/media" Target="../media/media8.mp4"/><Relationship Id="rId6" Type="http://schemas.openxmlformats.org/officeDocument/2006/relationships/video" Target="../media/media8.mp4"/><Relationship Id="rId7" Type="http://schemas.openxmlformats.org/officeDocument/2006/relationships/image" Target="../media/image10.png"/><Relationship Id="rId8" Type="http://schemas.microsoft.com/office/2007/relationships/media" Target="../media/media9.mp4"/><Relationship Id="rId9" Type="http://schemas.openxmlformats.org/officeDocument/2006/relationships/video" Target="../media/media9.mp4"/><Relationship Id="rId10" Type="http://schemas.openxmlformats.org/officeDocument/2006/relationships/image" Target="../media/image11.png"/><Relationship Id="rId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2.png"/><Relationship Id="rId5" Type="http://schemas.microsoft.com/office/2007/relationships/media" Target="../media/media11.mp4"/><Relationship Id="rId6" Type="http://schemas.openxmlformats.org/officeDocument/2006/relationships/video" Target="../media/media11.mp4"/><Relationship Id="rId7" Type="http://schemas.openxmlformats.org/officeDocument/2006/relationships/image" Target="../media/image13.png"/><Relationship Id="rId8" Type="http://schemas.microsoft.com/office/2007/relationships/media" Target="../media/media12.mp4"/><Relationship Id="rId9" Type="http://schemas.openxmlformats.org/officeDocument/2006/relationships/video" Target="../media/media12.mp4"/><Relationship Id="rId10" Type="http://schemas.openxmlformats.org/officeDocument/2006/relationships/image" Target="../media/image14.png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5.png"/><Relationship Id="rId5" Type="http://schemas.microsoft.com/office/2007/relationships/media" Target="../media/media14.mp4"/><Relationship Id="rId6" Type="http://schemas.openxmlformats.org/officeDocument/2006/relationships/video" Target="../media/media14.mp4"/><Relationship Id="rId7" Type="http://schemas.openxmlformats.org/officeDocument/2006/relationships/image" Target="../media/image16.png"/><Relationship Id="rId8" Type="http://schemas.microsoft.com/office/2007/relationships/media" Target="../media/media15.mp4"/><Relationship Id="rId9" Type="http://schemas.openxmlformats.org/officeDocument/2006/relationships/video" Target="../media/media15.mp4"/><Relationship Id="rId10" Type="http://schemas.openxmlformats.org/officeDocument/2006/relationships/image" Target="../media/image17.png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8.png"/><Relationship Id="rId5" Type="http://schemas.microsoft.com/office/2007/relationships/media" Target="../media/media17.mp4"/><Relationship Id="rId6" Type="http://schemas.openxmlformats.org/officeDocument/2006/relationships/video" Target="../media/media17.mp4"/><Relationship Id="rId7" Type="http://schemas.openxmlformats.org/officeDocument/2006/relationships/image" Target="../media/image19.png"/><Relationship Id="rId8" Type="http://schemas.microsoft.com/office/2007/relationships/media" Target="../media/media18.mp4"/><Relationship Id="rId9" Type="http://schemas.openxmlformats.org/officeDocument/2006/relationships/video" Target="../media/media18.mp4"/><Relationship Id="rId10" Type="http://schemas.openxmlformats.org/officeDocument/2006/relationships/image" Target="../media/image20.png"/><Relationship Id="rId1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4"/><Relationship Id="rId3" Type="http://schemas.openxmlformats.org/officeDocument/2006/relationships/video" Target="../media/media19.mp4"/><Relationship Id="rId4" Type="http://schemas.openxmlformats.org/officeDocument/2006/relationships/image" Target="../media/image21.png"/><Relationship Id="rId5" Type="http://schemas.microsoft.com/office/2007/relationships/media" Target="../media/media20.mp4"/><Relationship Id="rId6" Type="http://schemas.openxmlformats.org/officeDocument/2006/relationships/video" Target="../media/media20.mp4"/><Relationship Id="rId7" Type="http://schemas.openxmlformats.org/officeDocument/2006/relationships/image" Target="../media/image22.png"/><Relationship Id="rId8" Type="http://schemas.microsoft.com/office/2007/relationships/media" Target="../media/media21.mp4"/><Relationship Id="rId9" Type="http://schemas.openxmlformats.org/officeDocument/2006/relationships/video" Target="../media/media21.mp4"/><Relationship Id="rId10" Type="http://schemas.openxmlformats.org/officeDocument/2006/relationships/image" Target="../media/image23.png"/><Relationship Id="rId1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4"/><Relationship Id="rId3" Type="http://schemas.openxmlformats.org/officeDocument/2006/relationships/video" Target="../media/media22.mp4"/><Relationship Id="rId4" Type="http://schemas.openxmlformats.org/officeDocument/2006/relationships/image" Target="../media/image24.png"/><Relationship Id="rId5" Type="http://schemas.microsoft.com/office/2007/relationships/media" Target="../media/media23.mp4"/><Relationship Id="rId6" Type="http://schemas.openxmlformats.org/officeDocument/2006/relationships/video" Target="../media/media23.mp4"/><Relationship Id="rId7" Type="http://schemas.openxmlformats.org/officeDocument/2006/relationships/image" Target="../media/image25.png"/><Relationship Id="rId8" Type="http://schemas.microsoft.com/office/2007/relationships/media" Target="../media/media24.mp4"/><Relationship Id="rId9" Type="http://schemas.openxmlformats.org/officeDocument/2006/relationships/video" Target="../media/media24.mp4"/><Relationship Id="rId10" Type="http://schemas.openxmlformats.org/officeDocument/2006/relationships/image" Target="../media/image26.png"/><Relationship Id="rId11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64592"/>
            <a:ext cx="11430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52B3C"/>
                </a:solidFill>
                <a:latin typeface="Aptos"/>
              </a:rPr>
              <a:t>Local video model 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740664"/>
            <a:ext cx="11521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536A80"/>
                </a:solidFill>
                <a:latin typeface="Aptos"/>
              </a:rPr>
              <a:t>MacBook Pro M4 Pro, 24GB unified memory  ·  same red-ball prompt, judged on every measured video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6888" y="1188720"/>
          <a:ext cx="11658600" cy="33832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2788920"/>
                <a:gridCol w="1005840"/>
                <a:gridCol w="1554480"/>
                <a:gridCol w="868680"/>
                <a:gridCol w="1097280"/>
                <a:gridCol w="13258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Settings · power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Weights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Mean performance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TTFT (ms)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Memory GiB¹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Correct videos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52B3C"/>
                          </a:solidFill>
                          <a:latin typeface="Aptos"/>
                        </a:rPr>
                        <a:t>LTX-2.3 distilled MLX (keyframes)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36A80"/>
                          </a:solidFill>
                          <a:latin typeface="Aptos"/>
                        </a:rPr>
                        <a:t>768×512 · new prompt · keyframes · AC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MLX 4-bit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132.22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9.19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7B87"/>
                          </a:solidFill>
                          <a:latin typeface="Aptos"/>
                        </a:rPr>
                        <a:t>9 of 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52B3C"/>
                          </a:solidFill>
                          <a:latin typeface="Aptos"/>
                        </a:rPr>
                        <a:t>LTX-2.3 distilled MLX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36A80"/>
                          </a:solidFill>
                          <a:latin typeface="Aptos"/>
                        </a:rPr>
                        <a:t>768×512 · new prompt · AC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MLX 4-bit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108.97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9.19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7B87"/>
                          </a:solidFill>
                          <a:latin typeface="Aptos"/>
                        </a:rPr>
                        <a:t>3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52B3C"/>
                          </a:solidFill>
                          <a:latin typeface="Aptos"/>
                        </a:rPr>
                        <a:t>LTX-2.3 distilled MLX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36A80"/>
                          </a:solidFill>
                          <a:latin typeface="Aptos"/>
                        </a:rPr>
                        <a:t>512×320 · original prompt · AC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MLX 4-bit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52.67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7.68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52B3C"/>
                          </a:solidFill>
                          <a:latin typeface="Aptos"/>
                        </a:rPr>
                        <a:t>1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52B3C"/>
                          </a:solidFill>
                          <a:latin typeface="Aptos"/>
                        </a:rPr>
                        <a:t>Wan 2.2 TI2V 5B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36A80"/>
                          </a:solidFill>
                          <a:latin typeface="Aptos"/>
                        </a:rPr>
                        <a:t>512×320 · original prompt · AC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FP16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274.06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14.94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52B3C"/>
                          </a:solidFill>
                          <a:latin typeface="Aptos"/>
                        </a:rPr>
                        <a:t>1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52B3C"/>
                          </a:solidFill>
                          <a:latin typeface="Aptos"/>
                        </a:rPr>
                        <a:t>LTX-Video 2B v0.9.5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36A80"/>
                          </a:solidFill>
                          <a:latin typeface="Aptos"/>
                        </a:rPr>
                        <a:t>512×320 · original prompt · battery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BF16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78.84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8.15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52B3C"/>
                          </a:solidFill>
                          <a:latin typeface="Aptos"/>
                        </a:rPr>
                        <a:t>1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52B3C"/>
                          </a:solidFill>
                          <a:latin typeface="Aptos"/>
                        </a:rPr>
                        <a:t>LTX-Video 2B v0.9.5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36A80"/>
                          </a:solidFill>
                          <a:latin typeface="Aptos"/>
                        </a:rPr>
                        <a:t>768×512 · new prompt · AC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BF16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142.91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15.12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42318"/>
                          </a:solidFill>
                          <a:latin typeface="Aptos"/>
                        </a:rPr>
                        <a:t>0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52B3C"/>
                          </a:solidFill>
                          <a:latin typeface="Aptos"/>
                        </a:rPr>
                        <a:t>LTX-Video 2B distilled v0.9.6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36A80"/>
                          </a:solidFill>
                          <a:latin typeface="Aptos"/>
                        </a:rPr>
                        <a:t>512×320 · original prompt · battery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BF16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16.55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8.15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42318"/>
                          </a:solidFill>
                          <a:latin typeface="Aptos"/>
                        </a:rPr>
                        <a:t>0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52B3C"/>
                          </a:solidFill>
                          <a:latin typeface="Aptos"/>
                        </a:rPr>
                        <a:t>Wan 2.1 T2V 1.3B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36A80"/>
                          </a:solidFill>
                          <a:latin typeface="Aptos"/>
                        </a:rPr>
                        <a:t>512×320 · original prompt · battery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FP16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825.73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52B3C"/>
                          </a:solidFill>
                          <a:latin typeface="Aptos"/>
                        </a:rPr>
                        <a:t>11.16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42318"/>
                          </a:solidFill>
                          <a:latin typeface="Aptos"/>
                        </a:rPr>
                        <a:t>0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46888" y="4773168"/>
            <a:ext cx="11658600" cy="786384"/>
          </a:xfrm>
          <a:prstGeom prst="rect">
            <a:avLst/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6888" y="4773168"/>
            <a:ext cx="64008" cy="786384"/>
          </a:xfrm>
          <a:prstGeom prst="rect">
            <a:avLst/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4773168"/>
            <a:ext cx="11365992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B3C"/>
                </a:solidFill>
                <a:latin typeface="Aptos"/>
              </a:rPr>
              <a:t>Answer for the 24 GB Mac mini: </a:t>
            </a:r>
            <a:r>
              <a:rPr sz="1400" b="1" i="0">
                <a:solidFill>
                  <a:srgbClr val="007B87"/>
                </a:solidFill>
                <a:latin typeface="Aptos"/>
              </a:rPr>
              <a:t>LTX-2.3 distilled (MLX, 4-bit) with start and end keyframes: 9 of 9 videos correct</a:t>
            </a:r>
            <a:r>
              <a:rPr sz="1400" b="0" i="0">
                <a:solidFill>
                  <a:srgbClr val="152B3C"/>
                </a:solidFill>
                <a:latin typeface="Aptos"/>
              </a:rPr>
              <a:t>, 132 s per video on this Mac, peak process memory 14.6 GiB. Text only (no keyframes): 3 of 3, and 8 of 9 over nine seeds.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" y="5715000"/>
            <a:ext cx="108813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536A80"/>
                </a:solidFill>
                <a:latin typeface="Aptos"/>
              </a:rPr>
              <a:t>¹ Memory: ComfyUI rows = mean of each run’s 1 Hz sampled maximum MPS driver allocation; MLX rows = mean of each run’s sampled MLX peak. Neither is total RAM.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536A80"/>
                </a:solidFill>
                <a:latin typeface="Aptos"/>
              </a:rPr>
              <a:t>Power: battery rows ran with Low Power Mode on, AC rows without it, so speeds are only comparable within one power condition. TTFT (time to first token) is a language-model metric and does not apply here (—).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536A80"/>
                </a:solidFill>
                <a:latin typeface="Aptos"/>
              </a:rPr>
              <a:t>“New prompt” drops “slowly” and states the motion explicitly. Keyframes: a still of the ball on the left pins frame 1 and one of the ball on the right guides frame 49. Correct = exactly one red ball rolls left→right and stays 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64592"/>
            <a:ext cx="11430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52B3C"/>
                </a:solidFill>
                <a:latin typeface="Aptos"/>
              </a:rPr>
              <a:t>Recommended: LTX-2.3 + keyframes, 9 of 9 correct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740664"/>
            <a:ext cx="11521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536A80"/>
                </a:solidFill>
                <a:latin typeface="Aptos"/>
              </a:rPr>
              <a:t>768×512 · new prompt · start + end keyframes · 132.22 s per video · AC power  ·  </a:t>
            </a:r>
            <a:r>
              <a:rPr sz="1650" b="1" i="0">
                <a:solidFill>
                  <a:srgbClr val="007B87"/>
                </a:solidFill>
                <a:latin typeface="Aptos"/>
              </a:rPr>
              <a:t>Correct videos: 9 of 9 (seeds 42–50)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1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42</a:t>
            </a:r>
          </a:p>
        </p:txBody>
      </p:sp>
      <p:pic>
        <p:nvPicPr>
          <p:cNvPr id="5" name="ltx23mlx_kf-seed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536192"/>
            <a:ext cx="3749039" cy="24993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59" y="418185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418185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129.5 s to 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20767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One ball rolls steadily from the left to the right of the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2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43</a:t>
            </a:r>
          </a:p>
        </p:txBody>
      </p:sp>
      <p:pic>
        <p:nvPicPr>
          <p:cNvPr id="10" name="ltx23mlx_kf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24528" y="1536192"/>
            <a:ext cx="3749039" cy="24993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70248" y="418185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418185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131.4 s to make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4620767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One ball rolls steadily from the left to the right of the 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3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44</a:t>
            </a:r>
          </a:p>
        </p:txBody>
      </p:sp>
      <p:pic>
        <p:nvPicPr>
          <p:cNvPr id="15" name="ltx23mlx_kf-seed44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29016" y="1536192"/>
            <a:ext cx="3749039" cy="249935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74736" y="418185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418185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135.7 s to make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4620767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One ball rolls steadily from the left to the right of the 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760720"/>
            <a:ext cx="1088136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Click a video to play it (1.96 s). Seeds 45–50 (not shown) were also all correct.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Keyframes: frames 16 and 49 of the passing text-only clip (seed 47) anchor the first and last frames; the model generates the roll in between.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Peak process memory 14.6 GiB (Activity Monitor’s figure, GPU buffers included).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64592"/>
            <a:ext cx="11430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52B3C"/>
                </a:solidFill>
                <a:latin typeface="Aptos"/>
              </a:rPr>
              <a:t>Text only: LTX-2.3 distilled (MLX 4-bit), 3 of 3 correct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740664"/>
            <a:ext cx="11521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536A80"/>
                </a:solidFill>
                <a:latin typeface="Aptos"/>
              </a:rPr>
              <a:t>768×512 · new prompt · 108.97 s per video · 9.19 GiB¹ · AC power  ·  </a:t>
            </a:r>
            <a:r>
              <a:rPr sz="1650" b="1" i="0">
                <a:solidFill>
                  <a:srgbClr val="007B87"/>
                </a:solidFill>
                <a:latin typeface="Aptos"/>
              </a:rPr>
              <a:t>Correct videos: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1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42</a:t>
            </a:r>
          </a:p>
        </p:txBody>
      </p:sp>
      <p:pic>
        <p:nvPicPr>
          <p:cNvPr id="5" name="ltx23mlx_r2-seed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536192"/>
            <a:ext cx="3749039" cy="24993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59" y="418185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418185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107.7 s to 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20767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One ball rolls from the far left to the right, towards the camera.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2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43</a:t>
            </a:r>
          </a:p>
        </p:txBody>
      </p:sp>
      <p:pic>
        <p:nvPicPr>
          <p:cNvPr id="10" name="ltx23mlx_r2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24528" y="1536192"/>
            <a:ext cx="3749039" cy="24993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70248" y="418185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418185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108.6 s to make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4620767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One ball enters from the left and rolls steadily to the right.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3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44</a:t>
            </a:r>
          </a:p>
        </p:txBody>
      </p:sp>
      <p:pic>
        <p:nvPicPr>
          <p:cNvPr id="15" name="ltx23mlx_r2-seed44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29016" y="1536192"/>
            <a:ext cx="3749039" cy="249935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74736" y="418185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418185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110.6 s to make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4620767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One ball rolls right across the whole table and out of the frame.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760720"/>
            <a:ext cx="1088136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Click a video to play it (1.96 s). The still image is frame 25 of 49.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Six extra seeds (45–50) with the same settings: 5 of 6 correct. Peak process memory 14.6 GiB (Activity Monitor’s figure, GPU buffers included); first load 14.2 GiB of MLX memory while the Gemma text encoder runs.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¹ Memory: ComfyUI rows = mean of each run’s 1 Hz sampled maximum MPS driver allocation; MLX rows = mean of each run’s sampled MLX peak. Neither is total RAM.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64592"/>
            <a:ext cx="11430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52B3C"/>
                </a:solidFill>
                <a:latin typeface="Aptos"/>
              </a:rPr>
              <a:t>What made it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740664"/>
            <a:ext cx="11521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536A80"/>
                </a:solidFill>
                <a:latin typeface="Aptos"/>
              </a:rPr>
              <a:t>Same prompt idea, same seeds, same 49 frames: four steps from 1 of 3 to 9 of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80160"/>
            <a:ext cx="49377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Start: LTX-Video 2B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512×320, original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63039"/>
            <a:ext cx="4754880" cy="384048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40680" y="1463039"/>
            <a:ext cx="1584960" cy="384048"/>
          </a:xfrm>
          <a:prstGeom prst="roundRect">
            <a:avLst>
              <a:gd name="adj" fmla="val 18000"/>
            </a:avLst>
          </a:prstGeom>
          <a:solidFill>
            <a:srgbClr val="15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1399031"/>
            <a:ext cx="160020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B3C"/>
                </a:solidFill>
                <a:latin typeface="Aptos"/>
              </a:rPr>
              <a:t>1 of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21408"/>
            <a:ext cx="49377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1. Newer model: LTX-2.3 (MLX 4-bit)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same prompt and size; realistic scene, but one ball rolled the wrong 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304288"/>
            <a:ext cx="4754880" cy="384048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40680" y="2304288"/>
            <a:ext cx="1584960" cy="384048"/>
          </a:xfrm>
          <a:prstGeom prst="roundRect">
            <a:avLst>
              <a:gd name="adj" fmla="val 18000"/>
            </a:avLst>
          </a:prstGeom>
          <a:solidFill>
            <a:srgbClr val="15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0" y="2240279"/>
            <a:ext cx="160020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B3C"/>
                </a:solidFill>
                <a:latin typeface="Aptos"/>
              </a:rPr>
              <a:t>1 of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62656"/>
            <a:ext cx="49377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2–3. Clearer prompt + 768×512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“slowly” removed, motion stated explicitly; seed 46 still rolled towards the camera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145536"/>
            <a:ext cx="4754880" cy="384048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40680" y="3145536"/>
            <a:ext cx="4226560" cy="384048"/>
          </a:xfrm>
          <a:prstGeom prst="roundRect">
            <a:avLst>
              <a:gd name="adj" fmla="val 18000"/>
            </a:avLst>
          </a:prstGeom>
          <a:solidFill>
            <a:srgbClr val="15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3081528"/>
            <a:ext cx="160020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B3C"/>
                </a:solidFill>
                <a:latin typeface="Aptos"/>
              </a:rPr>
              <a:t>8 of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803904"/>
            <a:ext cx="49377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4. Start + end keyframes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the ball’s first and last positions are fixed; the model makes the roll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3986784"/>
            <a:ext cx="4754880" cy="384048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40680" y="3986784"/>
            <a:ext cx="4754880" cy="384048"/>
          </a:xfrm>
          <a:prstGeom prst="roundRect">
            <a:avLst>
              <a:gd name="adj" fmla="val 18000"/>
            </a:avLst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3922776"/>
            <a:ext cx="160020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7B87"/>
                </a:solidFill>
                <a:latin typeface="Aptos"/>
              </a:rPr>
              <a:t>9 of 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754880"/>
            <a:ext cx="3721608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347472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 this is hard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B3C"/>
                </a:solidFill>
                <a:latin typeface="Aptos"/>
              </a:rPr>
              <a:t>Open video models follow a motion direction only about 27–30% of the time (CAPE-T2V, Aug 2026): 3 of 3 by chance is about 3%.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7" y="4754880"/>
            <a:ext cx="3721608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4846320"/>
            <a:ext cx="347472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Fits the 24 GB Mac mini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B3C"/>
                </a:solidFill>
                <a:latin typeface="Aptos"/>
              </a:rPr>
              <a:t>Peak process memory 14.6 GiB with low-RAM streaming; 28.1 GB of weights on disk; about 132 s per video here.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9015" y="4754880"/>
            <a:ext cx="3721608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4846320"/>
            <a:ext cx="347472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On the M5 Pro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B3C"/>
                </a:solidFill>
                <a:latin typeface="Aptos"/>
              </a:rPr>
              <a:t>Same weights and memory; MLX uses the M5 GPU neural accelerators (macOS 26.2+), so it should be faster. Check the first videos there.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236208"/>
            <a:ext cx="10881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36A80"/>
                </a:solidFill>
                <a:latin typeface="Aptos"/>
              </a:rPr>
              <a:t>Prompt and size were changed together, so their separate effects are not measured. The 2B model with the new prompt and size got 0 of 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64592"/>
            <a:ext cx="11430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52B3C"/>
                </a:solidFill>
                <a:latin typeface="Aptos"/>
              </a:rPr>
              <a:t>How big can it go on 24 GB?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740664"/>
            <a:ext cx="11521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536A80"/>
                </a:solidFill>
                <a:latin typeface="Aptos"/>
              </a:rPr>
              <a:t>Recommended setup (LTX-2.3 + keyframes) at larger sizes and longer clips · seeds 42 and 43 per size · AC power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6888" y="1188720"/>
          <a:ext cx="7178040" cy="34198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65960"/>
                <a:gridCol w="822960"/>
                <a:gridCol w="1097280"/>
                <a:gridCol w="1188720"/>
                <a:gridCol w="1051560"/>
                <a:gridCol w="1051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Size × frames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Length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Peak GiB²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2nd video GiB²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Time / video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ptos"/>
                        </a:rPr>
                        <a:t>Correct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768×512 × 49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2.0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5.8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131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7B87"/>
                          </a:solidFill>
                          <a:latin typeface="Aptos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960×640 × 49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2.0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5.6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210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7B87"/>
                          </a:solidFill>
                          <a:latin typeface="Aptos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1152×768 × 49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2.0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5.6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302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7B87"/>
                          </a:solidFill>
                          <a:latin typeface="Aptos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1344×896 × 49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2.0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7.0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427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1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1536×1024 × 49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2.0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8.7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597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7B87"/>
                          </a:solidFill>
                          <a:latin typeface="Aptos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768×512 × 97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3.9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9.9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238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B42318"/>
                          </a:solidFill>
                          <a:latin typeface="Aptos"/>
                        </a:rPr>
                        <a:t>0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768×512 × 121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4.8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8.0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288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1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768×512 × 145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5.8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9.3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377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1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52B3C"/>
                          </a:solidFill>
                          <a:latin typeface="Aptos"/>
                        </a:rPr>
                        <a:t>1536×1024 × 97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3.9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13.7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52B3C"/>
                          </a:solidFill>
                          <a:latin typeface="Aptos"/>
                        </a:rPr>
                        <a:t>1199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B42318"/>
                          </a:solidFill>
                          <a:latin typeface="Aptos"/>
                        </a:rPr>
                        <a:t>0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188720"/>
            <a:ext cx="4343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7B87"/>
                </a:solidFill>
                <a:latin typeface="Aptos"/>
              </a:rPr>
              <a:t>Correct  </a:t>
            </a:r>
            <a:r>
              <a:rPr sz="1200" b="0" i="0">
                <a:solidFill>
                  <a:srgbClr val="152B3C"/>
                </a:solidFill>
                <a:latin typeface="Aptos"/>
              </a:rPr>
              <a:t>1536×1024, 2 s: one steady roll</a:t>
            </a:r>
          </a:p>
        </p:txBody>
      </p:sp>
      <p:pic>
        <p:nvPicPr>
          <p:cNvPr id="6" name="Picture 5" descr="1536x1024-49f-seed42-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36192"/>
            <a:ext cx="4343400" cy="5719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2148840"/>
            <a:ext cx="4343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36A80"/>
                </a:solidFill>
                <a:latin typeface="Aptos"/>
              </a:rPr>
              <a:t>five frames, start →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971800"/>
            <a:ext cx="43434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42318"/>
                </a:solidFill>
                <a:latin typeface="Aptos"/>
              </a:rPr>
              <a:t>Wrong  </a:t>
            </a:r>
            <a:r>
              <a:rPr sz="1200" b="0" i="0">
                <a:solidFill>
                  <a:srgbClr val="152B3C"/>
                </a:solidFill>
                <a:latin typeface="Aptos"/>
              </a:rPr>
              <a:t>768×512, 6 s: rolls right, back left, then right again</a:t>
            </a:r>
          </a:p>
        </p:txBody>
      </p:sp>
      <p:pic>
        <p:nvPicPr>
          <p:cNvPr id="9" name="Picture 8" descr="768x512-145f-seed42-stri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319272"/>
            <a:ext cx="4343400" cy="5719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3931920"/>
            <a:ext cx="4343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36A80"/>
                </a:solidFill>
                <a:latin typeface="Aptos"/>
              </a:rPr>
              <a:t>five frames, start → 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4773168"/>
            <a:ext cx="4343400" cy="868680"/>
          </a:xfrm>
          <a:prstGeom prst="rect">
            <a:avLst/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4773168"/>
            <a:ext cx="64008" cy="868680"/>
          </a:xfrm>
          <a:prstGeom prst="rect">
            <a:avLst/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4773168"/>
            <a:ext cx="4050791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52B3C"/>
                </a:solidFill>
                <a:latin typeface="Aptos"/>
              </a:rPr>
              <a:t>Mac mini answer: </a:t>
            </a:r>
            <a:r>
              <a:rPr sz="1250" b="1" i="0">
                <a:solidFill>
                  <a:srgbClr val="007B87"/>
                </a:solidFill>
                <a:latin typeface="Aptos"/>
              </a:rPr>
              <a:t>keep 49 frames (2 s); any size up to 1536×1024 fits and works</a:t>
            </a:r>
            <a:r>
              <a:rPr sz="1250" b="0" i="0">
                <a:solidFill>
                  <a:srgbClr val="152B3C"/>
                </a:solidFill>
                <a:latin typeface="Aptos"/>
              </a:rPr>
              <a:t>. Memory is never the limit; bigger sizes only cost time. Longer clips mostly fail.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4846320"/>
            <a:ext cx="71780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B3C"/>
                </a:solidFill>
                <a:latin typeface="Aptos"/>
              </a:rPr>
              <a:t>Why longer clips fail: </a:t>
            </a:r>
            <a:r>
              <a:rPr sz="1200" b="0" i="0">
                <a:solidFill>
                  <a:srgbClr val="152B3C"/>
                </a:solidFill>
                <a:latin typeface="Aptos"/>
              </a:rPr>
              <a:t>the keyframes fix only the first and last frame. The ball still crosses in about 2 s, then rolls back, leaves the frame or disappears before the last frame pulls it 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" y="5806440"/>
            <a:ext cx="1088136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536A80"/>
                </a:solidFill>
                <a:latin typeface="Aptos"/>
              </a:rPr>
              <a:t>² Peak GiB = highest process memory (Activity Monitor’s figure, GPU buffers included), set by the text-encoder load at start-up; 2nd video GiB = highest memory while making the next video. macOS recommends at most 17.8 GiB (19.07 GB) of GPU memory on a 24 GB Mac; every size stayed below it (highest: 14.6 GiB) and swap never grew.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536A80"/>
                </a:solidFill>
                <a:latin typeface="Aptos"/>
              </a:rPr>
              <a:t>Two seeds per size, so these are spot checks, not pass rates. 1344×896 seed 42 overshot the right edge and rolled back 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64592"/>
            <a:ext cx="11430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52B3C"/>
                </a:solidFill>
                <a:latin typeface="Aptos"/>
              </a:rPr>
              <a:t>LTX-2.3 distilled MLX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740664"/>
            <a:ext cx="11521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536A80"/>
                </a:solidFill>
                <a:latin typeface="Aptos"/>
              </a:rPr>
              <a:t>512×320 · original prompt · AC · 52.67 s per video · 7.68 GiB¹  ·  </a:t>
            </a:r>
            <a:r>
              <a:rPr sz="1650" b="1" i="0">
                <a:solidFill>
                  <a:srgbClr val="152B3C"/>
                </a:solidFill>
                <a:latin typeface="Aptos"/>
              </a:rPr>
              <a:t>Correct videos: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1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42</a:t>
            </a:r>
          </a:p>
        </p:txBody>
      </p:sp>
      <p:pic>
        <p:nvPicPr>
          <p:cNvPr id="5" name="ltx23mlx-seed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536192"/>
            <a:ext cx="3749039" cy="23431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59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52.4 s to 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The ball rolls from right to left, the wrong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2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43</a:t>
            </a:r>
          </a:p>
        </p:txBody>
      </p:sp>
      <p:pic>
        <p:nvPicPr>
          <p:cNvPr id="10" name="ltx23mlx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24528" y="1536192"/>
            <a:ext cx="3749039" cy="23431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70248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52.6 s to make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The ball barely moves.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3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44</a:t>
            </a:r>
          </a:p>
        </p:txBody>
      </p:sp>
      <p:pic>
        <p:nvPicPr>
          <p:cNvPr id="15" name="ltx23mlx-seed44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29016" y="1536192"/>
            <a:ext cx="3749039" cy="23431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74736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53.0 s to make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One ball enters from the left and rolls steadily to the right.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760720"/>
            <a:ext cx="1088136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Click a video to play it (1.96 s). The still image is frame 25 of 49.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¹ Memory: ComfyUI rows = mean of each run’s 1 Hz sampled maximum MPS driver allocation; MLX rows = mean of each run’s sampled MLX peak. Neither is total RAM.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64592"/>
            <a:ext cx="11430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52B3C"/>
                </a:solidFill>
                <a:latin typeface="Aptos"/>
              </a:rPr>
              <a:t>Wan 2.2 TI2V 5B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740664"/>
            <a:ext cx="11521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536A80"/>
                </a:solidFill>
                <a:latin typeface="Aptos"/>
              </a:rPr>
              <a:t>512×320 · original prompt · AC · 274.06 s per video · 14.94 GiB¹  ·  </a:t>
            </a:r>
            <a:r>
              <a:rPr sz="1650" b="1" i="0">
                <a:solidFill>
                  <a:srgbClr val="152B3C"/>
                </a:solidFill>
                <a:latin typeface="Aptos"/>
              </a:rPr>
              <a:t>Correct videos: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1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42</a:t>
            </a:r>
          </a:p>
        </p:txBody>
      </p:sp>
      <p:pic>
        <p:nvPicPr>
          <p:cNvPr id="5" name="wan22-seed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536192"/>
            <a:ext cx="3749039" cy="23431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59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273.2 s to 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One ball drops onto the table edge on the left, then moves clearly to the right.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2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43</a:t>
            </a:r>
          </a:p>
        </p:txBody>
      </p:sp>
      <p:pic>
        <p:nvPicPr>
          <p:cNvPr id="10" name="wan22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24528" y="1536192"/>
            <a:ext cx="3749039" cy="23431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70248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273.1 s to make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Blurred, overexposed scene; a red blob appears and vanishes.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3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44</a:t>
            </a:r>
          </a:p>
        </p:txBody>
      </p:sp>
      <p:pic>
        <p:nvPicPr>
          <p:cNvPr id="15" name="wan22-seed44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29016" y="1536192"/>
            <a:ext cx="3749039" cy="23431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74736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275.9 s to make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A large pink dome melts into a red smear.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760720"/>
            <a:ext cx="1088136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Click a video to play it (1.96 s). The still image is frame 25 of 49.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¹ Memory: ComfyUI rows = mean of each run’s 1 Hz sampled maximum MPS driver allocation; MLX rows = mean of each run’s sampled MLX peak. Neither is total RAM.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64592"/>
            <a:ext cx="11430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52B3C"/>
                </a:solidFill>
                <a:latin typeface="Aptos"/>
              </a:rPr>
              <a:t>LTX-Video 2B v0.9.5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740664"/>
            <a:ext cx="11521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536A80"/>
                </a:solidFill>
                <a:latin typeface="Aptos"/>
              </a:rPr>
              <a:t>512×320 · original prompt · battery · 78.84 s per video · 8.15 GiB¹  ·  </a:t>
            </a:r>
            <a:r>
              <a:rPr sz="1650" b="1" i="0">
                <a:solidFill>
                  <a:srgbClr val="152B3C"/>
                </a:solidFill>
                <a:latin typeface="Aptos"/>
              </a:rPr>
              <a:t>Correct videos: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1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42</a:t>
            </a:r>
          </a:p>
        </p:txBody>
      </p:sp>
      <p:pic>
        <p:nvPicPr>
          <p:cNvPr id="5" name="ltx095-seed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536192"/>
            <a:ext cx="3749039" cy="23431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59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73.6 s to 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The ball barely moves.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2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43</a:t>
            </a:r>
          </a:p>
        </p:txBody>
      </p:sp>
      <p:pic>
        <p:nvPicPr>
          <p:cNvPr id="10" name="ltx095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24528" y="1536192"/>
            <a:ext cx="3749039" cy="23431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70248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00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79.8 s to make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One red ball rolls from left to right and stays round.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3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44</a:t>
            </a:r>
          </a:p>
        </p:txBody>
      </p:sp>
      <p:pic>
        <p:nvPicPr>
          <p:cNvPr id="15" name="ltx095-seed44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29016" y="1536192"/>
            <a:ext cx="3749039" cy="23431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74736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83.1 s to make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The ball barely moves.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760720"/>
            <a:ext cx="1088136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Click a video to play it (1.96 s). The still image is frame 25 of 49.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¹ Memory: ComfyUI rows = mean of each run’s 1 Hz sampled maximum MPS driver allocation; MLX rows = mean of each run’s sampled MLX peak. Neither is total RAM.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64592"/>
            <a:ext cx="11430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52B3C"/>
                </a:solidFill>
                <a:latin typeface="Aptos"/>
              </a:rPr>
              <a:t>LTX-Video 2B v0.9.5 — new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740664"/>
            <a:ext cx="11521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536A80"/>
                </a:solidFill>
                <a:latin typeface="Aptos"/>
              </a:rPr>
              <a:t>768×512 · new prompt · AC · 142.91 s per video · 15.12 GiB¹  ·  </a:t>
            </a:r>
            <a:r>
              <a:rPr sz="1650" b="1" i="0">
                <a:solidFill>
                  <a:srgbClr val="B42318"/>
                </a:solidFill>
                <a:latin typeface="Aptos"/>
              </a:rPr>
              <a:t>Correct videos: 0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1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42</a:t>
            </a:r>
          </a:p>
        </p:txBody>
      </p:sp>
      <p:pic>
        <p:nvPicPr>
          <p:cNvPr id="5" name="ltx095_r2-seed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536192"/>
            <a:ext cx="3749039" cy="24993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59" y="418185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418185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144.8 s to 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20767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The ball shifts slightly at the right edge, then disappears.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2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43</a:t>
            </a:r>
          </a:p>
        </p:txBody>
      </p:sp>
      <p:pic>
        <p:nvPicPr>
          <p:cNvPr id="10" name="ltx095_r2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24528" y="1536192"/>
            <a:ext cx="3749039" cy="24993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70248" y="418185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418185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142.5 s to make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4620767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No ball appears; the table stays empty.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3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44</a:t>
            </a:r>
          </a:p>
        </p:txBody>
      </p:sp>
      <p:pic>
        <p:nvPicPr>
          <p:cNvPr id="15" name="ltx095_r2-seed44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29016" y="1536192"/>
            <a:ext cx="3749039" cy="249935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74736" y="418185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418185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141.3 s to make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4620767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The ball stays still in the centre.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760720"/>
            <a:ext cx="1088136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Click a video to play it (1.96 s). The still image is frame 25 of 49.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¹ Memory: ComfyUI rows = mean of each run’s 1 Hz sampled maximum MPS driver allocation; MLX rows = mean of each run’s sampled MLX peak. Neither is total RAM.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64592"/>
            <a:ext cx="11430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52B3C"/>
                </a:solidFill>
                <a:latin typeface="Aptos"/>
              </a:rPr>
              <a:t>LTX-Video 2B distilled v0.9.6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740664"/>
            <a:ext cx="11521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536A80"/>
                </a:solidFill>
                <a:latin typeface="Aptos"/>
              </a:rPr>
              <a:t>512×320 · original prompt · battery · 16.55 s per video · 8.15 GiB¹  ·  </a:t>
            </a:r>
            <a:r>
              <a:rPr sz="1650" b="1" i="0">
                <a:solidFill>
                  <a:srgbClr val="B42318"/>
                </a:solidFill>
                <a:latin typeface="Aptos"/>
              </a:rPr>
              <a:t>Correct videos: 0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1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42</a:t>
            </a:r>
          </a:p>
        </p:txBody>
      </p:sp>
      <p:pic>
        <p:nvPicPr>
          <p:cNvPr id="5" name="ltx096d-seed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536192"/>
            <a:ext cx="3749039" cy="23431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59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18.1 s to 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A second red ball appears; the first one hardly moves.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2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43</a:t>
            </a:r>
          </a:p>
        </p:txBody>
      </p:sp>
      <p:pic>
        <p:nvPicPr>
          <p:cNvPr id="10" name="ltx096d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24528" y="1536192"/>
            <a:ext cx="3749039" cy="23431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70248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16.4 s to make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The ball barely moves.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3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44</a:t>
            </a:r>
          </a:p>
        </p:txBody>
      </p:sp>
      <p:pic>
        <p:nvPicPr>
          <p:cNvPr id="15" name="ltx096d-seed44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29016" y="1536192"/>
            <a:ext cx="3749039" cy="23431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74736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15.2 s to make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The ball barely moves.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760720"/>
            <a:ext cx="1088136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Click a video to play it (1.96 s). The still image is frame 25 of 49.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¹ Memory: ComfyUI rows = mean of each run’s 1 Hz sampled maximum MPS driver allocation; MLX rows = mean of each run’s sampled MLX peak. Neither is total RAM.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64592"/>
            <a:ext cx="11430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52B3C"/>
                </a:solidFill>
                <a:latin typeface="Aptos"/>
              </a:rPr>
              <a:t>Wan 2.1 T2V 1.3B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740664"/>
            <a:ext cx="11521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536A80"/>
                </a:solidFill>
                <a:latin typeface="Aptos"/>
              </a:rPr>
              <a:t>512×320 · original prompt · battery · 825.73 s per video · 11.16 GiB¹  ·  </a:t>
            </a:r>
            <a:r>
              <a:rPr sz="1650" b="1" i="0">
                <a:solidFill>
                  <a:srgbClr val="B42318"/>
                </a:solidFill>
                <a:latin typeface="Aptos"/>
              </a:rPr>
              <a:t>Correct videos: 0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1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42</a:t>
            </a:r>
          </a:p>
        </p:txBody>
      </p:sp>
      <p:pic>
        <p:nvPicPr>
          <p:cNvPr id="5" name="wan21-seed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536192"/>
            <a:ext cx="3749039" cy="23431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59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852.4 s to 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The ball falls down to the left off a striped box instead of rolling across a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2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43</a:t>
            </a:r>
          </a:p>
        </p:txBody>
      </p:sp>
      <p:pic>
        <p:nvPicPr>
          <p:cNvPr id="10" name="wan21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24528" y="1536192"/>
            <a:ext cx="3749039" cy="23431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70248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770.9 s to make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Dozens of small red beads appear instead of one ball.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1170432"/>
            <a:ext cx="374903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Aptos"/>
              </a:rPr>
              <a:t>Video 3</a:t>
            </a:r>
            <a:r>
              <a:rPr sz="1500" b="0" i="0">
                <a:solidFill>
                  <a:srgbClr val="536A80"/>
                </a:solidFill>
                <a:latin typeface="Aptos"/>
              </a:rPr>
              <a:t>   seed 44</a:t>
            </a:r>
          </a:p>
        </p:txBody>
      </p:sp>
      <p:pic>
        <p:nvPicPr>
          <p:cNvPr id="15" name="wan21-seed44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29016" y="1536192"/>
            <a:ext cx="3749039" cy="23431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74736" y="4025646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4025646"/>
            <a:ext cx="237744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36A80"/>
                </a:solidFill>
                <a:latin typeface="Aptos"/>
              </a:rPr>
              <a:t>853.8 s to make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4464558"/>
            <a:ext cx="374903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52B3C"/>
                </a:solidFill>
                <a:latin typeface="Aptos"/>
              </a:rPr>
              <a:t>Why: </a:t>
            </a:r>
            <a:r>
              <a:rPr sz="1350" b="0" i="0">
                <a:solidFill>
                  <a:srgbClr val="152B3C"/>
                </a:solidFill>
                <a:latin typeface="Aptos"/>
              </a:rPr>
              <a:t>Cartoon-style room; a red net shape keeps changing and the ball appears only at the 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760720"/>
            <a:ext cx="1088136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Click a video to play it (1.96 s). The still image is frame 25 of 49.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¹ Memory: ComfyUI rows = mean of each run’s 1 Hz sampled maximum MPS driver allocation; MLX rows = mean of each run’s sampled MLX peak. Neither is total RAM.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video model benchmark — which model makes the red-ball video correctly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